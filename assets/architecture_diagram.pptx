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2200" b="1">
                <a:solidFill>
                  <a:srgbClr val="1A1F2C"/>
                </a:solidFill>
                <a:latin typeface="Calibri"/>
              </a:rPr>
              <a:t>MoodSyncAI — Four-Layer Inference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Image + Text + Audio + Video → fusion + mismatch → summary + coach →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17320"/>
            <a:ext cx="169164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1691640" cy="41148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🖼   Image / Photo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920240"/>
            <a:ext cx="169164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1691640" cy="41148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📸   Webcam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423160"/>
            <a:ext cx="169164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423160"/>
            <a:ext cx="1691640" cy="41148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✍   Text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926080"/>
            <a:ext cx="169164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926080"/>
            <a:ext cx="1691640" cy="41148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🎙   Audio clip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29000"/>
            <a:ext cx="169164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429000"/>
            <a:ext cx="1691640" cy="41148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🎥   Video upload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1280160"/>
            <a:ext cx="2834640" cy="5029200"/>
          </a:xfrm>
          <a:prstGeom prst="roundRect">
            <a:avLst>
              <a:gd name="adj" fmla="val 10000"/>
            </a:avLst>
          </a:prstGeom>
          <a:solidFill>
            <a:srgbClr val="EFF5FE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7440" y="1417320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LAYER 1  ·  PERCEPTION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783080"/>
            <a:ext cx="256032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>
                <a:solidFill>
                  <a:srgbClr val="1A1F2C"/>
                </a:solidFill>
                <a:latin typeface="Calibri"/>
              </a:rPr>
              <a:t>Input capture &amp; pre-processing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240280"/>
            <a:ext cx="256032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331720"/>
            <a:ext cx="22860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Calibri"/>
              </a:rPr>
              <a:t>⚙ 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697480"/>
            <a:ext cx="219456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PIL → RGB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081528"/>
            <a:ext cx="219456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AutoImageProcessor 224×224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465576"/>
            <a:ext cx="219456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RoBERTa BPE tokeniser (≤128 tok)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849624"/>
            <a:ext cx="219456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Whisper feature extractor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1280160"/>
            <a:ext cx="3108960" cy="5029200"/>
          </a:xfrm>
          <a:prstGeom prst="roundRect">
            <a:avLst>
              <a:gd name="adj" fmla="val 10000"/>
            </a:avLst>
          </a:prstGeom>
          <a:solidFill>
            <a:srgbClr val="EDFBF3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1417320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LAYER 2  ·  COGNITION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1783080"/>
            <a:ext cx="283464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>
                <a:solidFill>
                  <a:srgbClr val="1A1F2C"/>
                </a:solidFill>
                <a:latin typeface="Calibri"/>
              </a:rPr>
              <a:t>Modality models + fusion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2240280"/>
            <a:ext cx="283464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2331720"/>
            <a:ext cx="256032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Calibri"/>
              </a:rPr>
              <a:t>⚙  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697480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🧠   ViT face emotion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081528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📝   DistilRoBERTa 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465576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🔊   Whisper ASR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849624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⚖   Polarity reduction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233672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🔀   Fusion MLP / Weighted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17720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⚠   Mismatch L2 score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32520" y="1280160"/>
            <a:ext cx="3108960" cy="2468880"/>
          </a:xfrm>
          <a:prstGeom prst="roundRect">
            <a:avLst>
              <a:gd name="adj" fmla="val 10000"/>
            </a:avLst>
          </a:prstGeom>
          <a:solidFill>
            <a:srgbClr val="F4EFFE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69680" y="1417320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LAYER 3  ·  SYNTHESIS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1783080"/>
            <a:ext cx="283464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>
                <a:solidFill>
                  <a:srgbClr val="1A1F2C"/>
                </a:solidFill>
                <a:latin typeface="Calibri"/>
              </a:rPr>
              <a:t>Summary + Coach advice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224028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2331720"/>
            <a:ext cx="256032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Calibri"/>
              </a:rPr>
              <a:t>⚙  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2697480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✨   FLAN-T5 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3081528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📈   Trajectory detection (7 patterns)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465576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🧭   Conversation Coach advice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849624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🧩   Template fallback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32520" y="3840480"/>
            <a:ext cx="3108960" cy="2468880"/>
          </a:xfrm>
          <a:prstGeom prst="roundRect">
            <a:avLst>
              <a:gd name="adj" fmla="val 10000"/>
            </a:avLst>
          </a:prstGeom>
          <a:solidFill>
            <a:srgbClr val="FEF6E0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69680" y="3977640"/>
            <a:ext cx="2103120" cy="292608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LAYER 4  ·  INTERFACE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343400"/>
            <a:ext cx="283464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>
                <a:solidFill>
                  <a:srgbClr val="1A1F2C"/>
                </a:solidFill>
                <a:latin typeface="Calibri"/>
              </a:rPr>
              <a:t>Streamlit UI + state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4800600"/>
            <a:ext cx="28346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8C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4892040"/>
            <a:ext cx="256032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Calibri"/>
              </a:rPr>
              <a:t>⚙  PROCESSING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5257800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📷   Image + Text tab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5641848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🎥   Webcam / Video tab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6025896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🎙   Audio + Image tab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6409944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🧭   Conversation Coach tab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6793992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🎨   Glass-card UI + Plotly charts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7178040"/>
            <a:ext cx="2468880" cy="384048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💾   session_state across turns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011680" y="1618488"/>
            <a:ext cx="274320" cy="0"/>
          </a:xfrm>
          <a:prstGeom prst="line">
            <a:avLst/>
          </a:prstGeom>
          <a:ln w="12700">
            <a:solidFill>
              <a:srgbClr val="3B82F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011680" y="2121408"/>
            <a:ext cx="274320" cy="0"/>
          </a:xfrm>
          <a:prstGeom prst="line">
            <a:avLst/>
          </a:prstGeom>
          <a:ln w="12700">
            <a:solidFill>
              <a:srgbClr val="3B82F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011680" y="2624328"/>
            <a:ext cx="274320" cy="0"/>
          </a:xfrm>
          <a:prstGeom prst="line">
            <a:avLst/>
          </a:prstGeom>
          <a:ln w="12700">
            <a:solidFill>
              <a:srgbClr val="3B82F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011680" y="3127248"/>
            <a:ext cx="274320" cy="0"/>
          </a:xfrm>
          <a:prstGeom prst="line">
            <a:avLst/>
          </a:prstGeom>
          <a:ln w="12700">
            <a:solidFill>
              <a:srgbClr val="3B82F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11680" y="3630168"/>
            <a:ext cx="274320" cy="0"/>
          </a:xfrm>
          <a:prstGeom prst="line">
            <a:avLst/>
          </a:prstGeom>
          <a:ln w="12700">
            <a:solidFill>
              <a:srgbClr val="3B82F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074920" y="3749039"/>
            <a:ext cx="274320" cy="0"/>
          </a:xfrm>
          <a:prstGeom prst="line">
            <a:avLst/>
          </a:prstGeom>
          <a:ln w="25400">
            <a:solidFill>
              <a:srgbClr val="37415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458200" y="2560320"/>
            <a:ext cx="274320" cy="0"/>
          </a:xfrm>
          <a:prstGeom prst="line">
            <a:avLst/>
          </a:prstGeom>
          <a:ln w="22860">
            <a:solidFill>
              <a:srgbClr val="8B5CF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58200" y="5074920"/>
            <a:ext cx="274320" cy="0"/>
          </a:xfrm>
          <a:prstGeom prst="line">
            <a:avLst/>
          </a:prstGeom>
          <a:ln w="22860">
            <a:solidFill>
              <a:srgbClr val="F59E0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287000.0" y="3749040"/>
            <a:ext cx="0.0" cy="91440"/>
          </a:xfrm>
          <a:prstGeom prst="line">
            <a:avLst/>
          </a:prstGeom>
          <a:ln w="19050">
            <a:solidFill>
              <a:srgbClr val="37415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ctr"/>
            <a:r>
              <a:rPr sz="1000" b="0">
                <a:solidFill>
                  <a:srgbClr val="8A94A6"/>
                </a:solidFill>
                <a:latin typeface="Calibri"/>
              </a:rPr>
              <a:t>Built with Streamlit · PyTorch · HuggingFace Transformers · librosa · OpenCV · Plotly  ·  Editable in PowerPoint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